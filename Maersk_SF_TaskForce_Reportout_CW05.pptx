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315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Maersk SF Task Force | Report-out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04672"/>
            <a:ext cx="12191695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5472"/>
            <a:ext cx="18288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Work Stream: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55472"/>
            <a:ext cx="27432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EDI -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855472"/>
            <a:ext cx="18288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Responsible: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855472"/>
            <a:ext cx="18288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Murali Rajamani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855472"/>
            <a:ext cx="10972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Status: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855472"/>
            <a:ext cx="320040" cy="32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855472"/>
            <a:ext cx="10972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Date: 26.02.2026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17320"/>
            <a:ext cx="12191695" cy="5029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42720"/>
            <a:ext cx="18288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Important milestones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1480820"/>
            <a:ext cx="274320" cy="27432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Completeness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0" y="1480820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Timeliness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1480820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ETA to Port</a:t>
            </a:r>
          </a:p>
        </p:txBody>
      </p:sp>
      <p:sp>
        <p:nvSpPr>
          <p:cNvPr id="21" name="Oval 20"/>
          <p:cNvSpPr/>
          <p:nvPr/>
        </p:nvSpPr>
        <p:spPr>
          <a:xfrm>
            <a:off x="7406640" y="1480820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ETA to Door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0" y="1480820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Plausibility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1480820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1455420"/>
            <a:ext cx="11887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Ref. Comp.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03120"/>
            <a:ext cx="576072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120" y="2128520"/>
            <a:ext cx="576072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Done (last period) — CW05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920" y="2468880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Critical Milestone Completeness improved to 83.9% (CW03: 80.0%, +3.9pp)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920" y="2670048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SC3 Critical Completeness: 80.7% (+5.2pp vs CW03)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920" y="2871216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SC4 Critical Completeness: 85.9% (+3.7pp vs CW03)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920" y="3072384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All Milestones Completeness improved to 74.7% (CW03: 65.4%, +9.3pp)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920" y="3273552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ETA Accuracy to Door improved to 47.2% (CW03: 42.6%, +4.6pp)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920" y="3474720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SC3 Critical Timeliness improved to 60.7% (CW03: 54.6%, +6.1pp)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920" y="3675888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Plausibility stabilized at 67.1% (CW03: 66.4%)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86784"/>
            <a:ext cx="576072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012184"/>
            <a:ext cx="576072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Planned activities for next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920" y="4352544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Drive SC4 Timeliness improvement (currently 35.6% — lowest KPI)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920" y="4553712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Investigate SC4 S00 Shipment Created completeness (55.2%)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5920" y="4754880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Improve S46 Docs Rcvd from Shipper (67.7% completeness)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920" y="4956048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Address SC4 S05 In-delivery gap (17.5% completeness)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5920" y="5157216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Target Plausibility improvement toward 90% (currently 67.1%)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920" y="5358384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Root-cause S54 Full Container Discharge failure (7.4% SC3)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5920" y="5559552"/>
            <a:ext cx="5557520" cy="20116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Establish Reference Completeness baseline (currently 0%)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103120"/>
            <a:ext cx="5577840" cy="32004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0160" y="2128520"/>
            <a:ext cx="557784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Critical issues / Problems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50592"/>
            <a:ext cx="5577840" cy="2560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4760" y="2463292"/>
            <a:ext cx="237744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463292"/>
            <a:ext cx="182880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2463292"/>
            <a:ext cx="82296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Resp.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2463292"/>
            <a:ext cx="54864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Until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2724912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4760" y="2737612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SC4 Critical Timeliness at 35.6%</a:t>
            </a:r>
            <a:br/>
            <a:r>
              <a:t>(target: 70%)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2737612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Analyze late milestone</a:t>
            </a:r>
            <a:br/>
            <a:r>
              <a:t>transmission root causes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2737612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2737612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3108960"/>
            <a:ext cx="557784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4760" y="3121660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SC4 S05 In-delivery only 17.5%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121660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Review carrier EDI</a:t>
            </a:r>
            <a:br/>
            <a:r>
              <a:t>integration gaps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3121660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3121660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49300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4760" y="3505708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Plausibility at 67.1%</a:t>
            </a:r>
            <a:br/>
            <a:r>
              <a:t>(target: 90%)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505708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Identify out-of-sequence</a:t>
            </a:r>
            <a:br/>
            <a:r>
              <a:t>milestone patterns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3505708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3505708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3877056"/>
            <a:ext cx="557784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34760" y="3889756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S54 Container Discharge 7.4%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3889756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Escalate terminal EDI</a:t>
            </a:r>
            <a:br/>
            <a:r>
              <a:t>feed issues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3889756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3889756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261104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34760" y="4273804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Reference Completeness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4273804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Define REF field mapping</a:t>
            </a:r>
            <a:br/>
            <a:r>
              <a:t>requirements with Bosch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4273804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8560" y="4273804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4645152"/>
            <a:ext cx="557784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34760" y="4657852"/>
            <a:ext cx="23774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ETA to Door accuracy 47.2%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657852"/>
            <a:ext cx="182880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  <a:r>
              <a:t>Calibrate estimated</a:t>
            </a:r>
            <a:br/>
            <a:r>
              <a:t>delivery models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4657852"/>
            <a:ext cx="82296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4657852"/>
            <a:ext cx="548640" cy="3840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Arial"/>
              </a:defRPr>
            </a:pPr>
            <a:r>
              <a:t>CW09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Bosch | Project Status | General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6556248"/>
            <a:ext cx="27432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26.02.2026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Bosch Milestone KPI Trend — CW01 / CW03 / CW05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92608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560" y="1031240"/>
            <a:ext cx="282448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118872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2640" y="1031240"/>
            <a:ext cx="108712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005840"/>
            <a:ext cx="118872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1360" y="1031240"/>
            <a:ext cx="108712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005840"/>
            <a:ext cx="118872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0080" y="1031240"/>
            <a:ext cx="108712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CW03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005840"/>
            <a:ext cx="118872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8800" y="1031240"/>
            <a:ext cx="108712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CW05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91440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520" y="1031240"/>
            <a:ext cx="812800" cy="310896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37160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3716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3716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13716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13716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560" y="1409700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P1: Critical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2640" y="140970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1360" y="140970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0080" y="140970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8800" y="140970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83.9%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520" y="1409700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755648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755648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1755648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1755648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1755648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1755648"/>
            <a:ext cx="91440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560" y="1793748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 SC3 Critical Comp.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2640" y="179374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31360" y="179374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77.4%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0080" y="179374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75.5%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8800" y="179374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80.7%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7520" y="1793748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13969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2139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2139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0" y="2139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0" y="2139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21396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560" y="2177796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 SC4 Critical Comp.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2640" y="217779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4531360" y="217779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91.1%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20080" y="217779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8800" y="217779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85.9%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7520" y="2177796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523744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2523744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0560" y="2523744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9280" y="2523744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2523744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46720" y="2523744"/>
            <a:ext cx="91440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560" y="2561844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P2: Critical Timeliness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42640" y="256184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≥70%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31360" y="256184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52.3%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20080" y="256184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48.9%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8800" y="256184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45.4%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7520" y="2561844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FF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90779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91840" y="29077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80560" y="29077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0" y="29077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58000" y="29077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46720" y="29077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560" y="2945892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 SC3 Critical Time.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42640" y="294589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4531360" y="294589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58.3%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0080" y="294589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54.6%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8800" y="294589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60.7%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7520" y="2945892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291840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91840" y="3291840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80560" y="3291840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0" y="3291840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58000" y="3291840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46720" y="3291840"/>
            <a:ext cx="91440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560" y="3329940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   SC4 Critical Time.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42640" y="332994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4531360" y="332994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41.6%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20080" y="332994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46.1%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08800" y="332994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35.6%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97520" y="3329940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FF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367588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367588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480560" y="367588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0" y="367588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58000" y="367588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46720" y="36758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560" y="3713988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P3: ETA Accuracy to Port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42640" y="371398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≥70%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31360" y="371398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58.3%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20080" y="371398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42.9%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08800" y="3713988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54.4%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7520" y="3713988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4059936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91840" y="4059936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480560" y="4059936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0" y="4059936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858000" y="4059936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46720" y="4059936"/>
            <a:ext cx="91440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6560" y="4098036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P4: ETA Accuracy to Door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42640" y="409803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≥70%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31360" y="409803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34.7%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0080" y="409803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42.6%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08800" y="4098036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47.2%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7520" y="4098036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44398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91840" y="444398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80560" y="444398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669280" y="444398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58000" y="444398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046720" y="44439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6560" y="4482084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P7: Plausibility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42640" y="448208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≥90%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31360" y="448208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C000"/>
                </a:solidFill>
                <a:latin typeface="Arial"/>
              </a:defRPr>
            </a:pPr>
            <a:r>
              <a:t>75.1%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0080" y="448208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66.4%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08800" y="4482084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67.1%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97520" y="4482084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FFC000"/>
                </a:solidFill>
                <a:latin typeface="Arial"/>
              </a:defRPr>
            </a:pPr>
            <a:r>
              <a:t>►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4828032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91840" y="4828032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480560" y="4828032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69280" y="4828032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858000" y="4828032"/>
            <a:ext cx="118872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046720" y="4828032"/>
            <a:ext cx="91440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6560" y="4866132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P8: All MS Completeness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42640" y="486613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≥95%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31360" y="486613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72.7%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20080" y="486613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65.4%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08800" y="4866132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74.7%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97520" y="4866132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5760" y="521208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291840" y="521208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480560" y="521208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669280" y="521208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858000" y="521208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046720" y="52120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6560" y="5250180"/>
            <a:ext cx="282448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P9: All MS Timeliness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42640" y="525018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Arial"/>
              </a:defRPr>
            </a:pPr>
            <a:r>
              <a:t>≥70%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31360" y="525018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45.8%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720080" y="525018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37.9%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08800" y="5250180"/>
            <a:ext cx="108712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97520" y="5250180"/>
            <a:ext cx="812800" cy="307848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760" y="5870448"/>
            <a:ext cx="11430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8640" y="5895848"/>
            <a:ext cx="109728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6236208"/>
            <a:ext cx="1097280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Completeness improving: Critical +3.9pp (CW03→CW05), All Milestones +9.3pp — strongest improvement area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8640" y="6464808"/>
            <a:ext cx="1097280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Timeliness remains the biggest challenge: SC4 Critical at 35.6%, overall trend declining from CW01 (52.3%→45.4%)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8640" y="6693408"/>
            <a:ext cx="1097280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ETA accuracy mixed: Port accuracy dropped from CW01 (58.3%→54.4%), Door accuracy improved (34.7%→47.2%)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48640" y="6922008"/>
            <a:ext cx="10972800" cy="2286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SC3 consistently outperforms SC4 across all metrics — SC4 operational gaps driving overall underperformance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Bosch | KPI Dashboard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0" y="6556248"/>
            <a:ext cx="27432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26.02.2026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CW05 Critical Milestone Detail — SC3 vs SC4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1240"/>
            <a:ext cx="50292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SC3 (FCL) Key Milestones — CW05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201168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560" y="1378712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Milestone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53312"/>
            <a:ext cx="164592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8240" y="1378712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Comp%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353312"/>
            <a:ext cx="164592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4160" y="1378712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Time%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4592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164592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164592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560" y="167132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S60 Pre-Booking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240" y="167132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92.3%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0" y="167132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00B050"/>
                </a:solidFill>
                <a:latin typeface="Arial"/>
              </a:defRPr>
            </a:pPr>
            <a:r>
              <a:t>92.3%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2024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192024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60" y="192024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560" y="194564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S02 Collected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240" y="194564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75.7%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0" y="194564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34.2%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40" y="219456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3360" y="219456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560" y="221996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S04 Departed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8240" y="221996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91.2%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0" y="221996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00B050"/>
                </a:solidFill>
                <a:latin typeface="Arial"/>
              </a:defRPr>
            </a:pPr>
            <a:r>
              <a:t>89.1%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46888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246888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3360" y="246888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560" y="249428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S07 Arrived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8240" y="249428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93.3%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4160" y="249428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00B050"/>
                </a:solidFill>
                <a:latin typeface="Arial"/>
              </a:defRPr>
            </a:pPr>
            <a:r>
              <a:t>93.0%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74320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77440" y="274320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23360" y="274320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560" y="276860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S31 Delivered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8240" y="276860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56.6%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4160" y="276860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01752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77440" y="301752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23360" y="301752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560" y="304292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S52 Empty Pickup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8240" y="304292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28.9%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74160" y="304292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24.4%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29184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77440" y="329184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60" y="329184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560" y="331724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S53 Full Loaded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8240" y="331724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68.5%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74160" y="331724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63.0%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6616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77440" y="356616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23360" y="3566160"/>
            <a:ext cx="164592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560" y="359156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S54 Full Discharged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8240" y="359156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7.4%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4160" y="359156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5.6%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84048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377440" y="384048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3360" y="384048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560" y="386588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S55 Empty Return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8240" y="386588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76.9%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74160" y="3865880"/>
            <a:ext cx="154432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00B050"/>
                </a:solidFill>
                <a:latin typeface="Arial"/>
              </a:defRPr>
            </a:pPr>
            <a:r>
              <a:t>76.9%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0" y="1031240"/>
            <a:ext cx="50292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SC4 (LCL) Key Milestones — CW05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1353312"/>
            <a:ext cx="201168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1600" y="1378712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Milestone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0" y="1353312"/>
            <a:ext cx="155448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3280" y="1378712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Comp%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966960" y="1353312"/>
            <a:ext cx="1554480" cy="2743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17760" y="1378712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  <a:latin typeface="Arial"/>
              </a:defRPr>
            </a:pPr>
            <a:r>
              <a:t>Time%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164592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412480" y="164592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66960" y="164592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1600" y="167132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S00 Shipment Created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3280" y="167132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55.2%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17760" y="167132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54.6%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192024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412480" y="192024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966960" y="192024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51600" y="194564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S02 Collected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3280" y="194564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88.9%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7760" y="194564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32.9%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219456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12480" y="219456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66960" y="219456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51600" y="221996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S04 Departed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3280" y="221996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89.4%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17760" y="221996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49.1%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0" y="246888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12480" y="246888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966960" y="246888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51600" y="249428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S07 Arrived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63280" y="249428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81.8%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17760" y="249428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43.8%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800" y="274320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0" y="274320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66960" y="274320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51600" y="276860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S16 Booked w/ Carrier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63280" y="276860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76.9%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17760" y="276860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61.1%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301752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12480" y="301752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966960" y="301752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51600" y="304292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S17 Tendered Carrier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63280" y="304292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59.5%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17760" y="304292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32.8%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00800" y="329184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412480" y="329184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966960" y="329184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51600" y="331724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S31 Delivered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63280" y="331724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C000"/>
                </a:solidFill>
                <a:latin typeface="Arial"/>
              </a:defRPr>
            </a:pPr>
            <a:r>
              <a:t>84.0%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7760" y="331724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10.5%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3566160"/>
            <a:ext cx="20116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412480" y="356616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966960" y="3566160"/>
            <a:ext cx="155448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51600" y="359156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S45 Handover Broker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63280" y="359156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47.7%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17760" y="359156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47.7%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0" y="384048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412480" y="384048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966960" y="3840480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51600" y="3865880"/>
            <a:ext cx="19100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S46 Docs Rcvd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63280" y="386588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67.7%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17760" y="3865880"/>
            <a:ext cx="1452880" cy="237744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defRPr sz="900" b="1">
                <a:solidFill>
                  <a:srgbClr val="FF0000"/>
                </a:solidFill>
                <a:latin typeface="Arial"/>
              </a:defRPr>
            </a:pPr>
            <a:r>
              <a:t>31.3%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4389120"/>
            <a:ext cx="11430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" y="4414520"/>
            <a:ext cx="109728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Focus Areas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4754880"/>
            <a:ext cx="10972800" cy="210312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RED — S54 Full Container Discharge (SC3): 7.4% completeness — terminal EDI feed likely broken/missing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4965192"/>
            <a:ext cx="10972800" cy="210312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RED — S05 In-delivery (SC4): 17.5% completeness — last-mile tracking gap for LCL shipments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5175504"/>
            <a:ext cx="10972800" cy="210312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RED — S52 Empty Container Pickup (SC3): 28.9% — depot EDI not flowing consistently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5385816"/>
            <a:ext cx="10972800" cy="210312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RED — S31 Delivered Timeliness: SC3 12.8%, SC4 10.5% — delivery confirmation significantly delayed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5596128"/>
            <a:ext cx="10972800" cy="210312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• YELLOW — S00 Shipment Created (SC4): 55.2% — shipment creation not captured for ~half of shipments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6556248"/>
            <a:ext cx="45720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Bosch | Milestone Detail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0" y="6556248"/>
            <a:ext cx="2743200" cy="2743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26.02.2026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